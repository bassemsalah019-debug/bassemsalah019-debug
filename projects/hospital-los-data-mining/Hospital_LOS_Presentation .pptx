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5A305-5B65-549A-918E-5619D749919F}" v="4" dt="2026-03-27T17:52:25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, bassem 02600991" userId="S::ba29411102600991@depi.eui.edu.eg::2a4a1fe3-cebb-4f85-b5e3-56306f1e794c" providerId="AD" clId="Web-{4E45A305-5B65-549A-918E-5619D749919F}"/>
    <pc:docChg chg="modSld">
      <pc:chgData name="Ahmed, bassem 02600991" userId="S::ba29411102600991@depi.eui.edu.eg::2a4a1fe3-cebb-4f85-b5e3-56306f1e794c" providerId="AD" clId="Web-{4E45A305-5B65-549A-918E-5619D749919F}" dt="2026-03-27T17:52:25.750" v="3" actId="1076"/>
      <pc:docMkLst>
        <pc:docMk/>
      </pc:docMkLst>
      <pc:sldChg chg="modSp">
        <pc:chgData name="Ahmed, bassem 02600991" userId="S::ba29411102600991@depi.eui.edu.eg::2a4a1fe3-cebb-4f85-b5e3-56306f1e794c" providerId="AD" clId="Web-{4E45A305-5B65-549A-918E-5619D749919F}" dt="2026-03-27T17:04:53.585" v="0"/>
        <pc:sldMkLst>
          <pc:docMk/>
          <pc:sldMk cId="0" sldId="262"/>
        </pc:sldMkLst>
        <pc:graphicFrameChg chg="modGraphic">
          <ac:chgData name="Ahmed, bassem 02600991" userId="S::ba29411102600991@depi.eui.edu.eg::2a4a1fe3-cebb-4f85-b5e3-56306f1e794c" providerId="AD" clId="Web-{4E45A305-5B65-549A-918E-5619D749919F}" dt="2026-03-27T17:04:53.585" v="0"/>
          <ac:graphicFrameMkLst>
            <pc:docMk/>
            <pc:sldMk cId="0" sldId="262"/>
            <ac:graphicFrameMk id="20" creationId="{00000000-0000-0000-0000-000000000000}"/>
          </ac:graphicFrameMkLst>
        </pc:graphicFrameChg>
      </pc:sldChg>
      <pc:sldChg chg="modSp">
        <pc:chgData name="Ahmed, bassem 02600991" userId="S::ba29411102600991@depi.eui.edu.eg::2a4a1fe3-cebb-4f85-b5e3-56306f1e794c" providerId="AD" clId="Web-{4E45A305-5B65-549A-918E-5619D749919F}" dt="2026-03-27T17:52:25.750" v="3" actId="1076"/>
        <pc:sldMkLst>
          <pc:docMk/>
          <pc:sldMk cId="0" sldId="263"/>
        </pc:sldMkLst>
        <pc:spChg chg="mod">
          <ac:chgData name="Ahmed, bassem 02600991" userId="S::ba29411102600991@depi.eui.edu.eg::2a4a1fe3-cebb-4f85-b5e3-56306f1e794c" providerId="AD" clId="Web-{4E45A305-5B65-549A-918E-5619D749919F}" dt="2026-03-27T17:52:25.750" v="3" actId="1076"/>
          <ac:spMkLst>
            <pc:docMk/>
            <pc:sldMk cId="0" sldId="263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D3A"/>
                </a:solidFill>
                <a:latin typeface="Arial"/>
              </a:rPr>
              <a:t>Target: Stay Duration (Days)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0-10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71-80</c:v>
                </c:pt>
                <c:pt idx="8">
                  <c:v>81-90</c:v>
                </c:pt>
                <c:pt idx="9">
                  <c:v>91-100</c:v>
                </c:pt>
                <c:pt idx="10">
                  <c:v>100+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23604</c:v>
                </c:pt>
                <c:pt idx="1">
                  <c:v>78139</c:v>
                </c:pt>
                <c:pt idx="2">
                  <c:v>87491</c:v>
                </c:pt>
                <c:pt idx="3">
                  <c:v>55159</c:v>
                </c:pt>
                <c:pt idx="4">
                  <c:v>35018</c:v>
                </c:pt>
                <c:pt idx="5">
                  <c:v>12316</c:v>
                </c:pt>
                <c:pt idx="6">
                  <c:v>3268</c:v>
                </c:pt>
                <c:pt idx="7">
                  <c:v>10254</c:v>
                </c:pt>
                <c:pt idx="8">
                  <c:v>4838</c:v>
                </c:pt>
                <c:pt idx="9">
                  <c:v>3270</c:v>
                </c:pt>
                <c:pt idx="10">
                  <c:v>6683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89-4E60-BCA1-F60DF2540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B1D3A"/>
                </a:solidFill>
                <a:latin typeface="Arial"/>
              </a:rPr>
              <a:t>Patient Visitors vs Stay Duration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Visitors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51-60</c:v>
                </c:pt>
                <c:pt idx="5">
                  <c:v>71-80</c:v>
                </c:pt>
                <c:pt idx="6">
                  <c:v>81-90</c:v>
                </c:pt>
                <c:pt idx="7">
                  <c:v>100+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2.57</c:v>
                </c:pt>
                <c:pt idx="1">
                  <c:v>2.74</c:v>
                </c:pt>
                <c:pt idx="2">
                  <c:v>2.68</c:v>
                </c:pt>
                <c:pt idx="3">
                  <c:v>3.45</c:v>
                </c:pt>
                <c:pt idx="4">
                  <c:v>4.3899999999999997</c:v>
                </c:pt>
                <c:pt idx="5">
                  <c:v>4.8899999999999997</c:v>
                </c:pt>
                <c:pt idx="6">
                  <c:v>6.1</c:v>
                </c:pt>
                <c:pt idx="7">
                  <c:v>7.89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00-4F63-9F3E-DD62743FE5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D3A"/>
                </a:solidFill>
                <a:latin typeface="Arial"/>
              </a:rPr>
              <a:t>Admissions by Type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9D-436E-BB00-D44EAB751DDC}"/>
              </c:ext>
            </c:extLst>
          </c:dPt>
          <c:dPt>
            <c:idx val="1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9D-436E-BB00-D44EAB751DDC}"/>
              </c:ext>
            </c:extLst>
          </c:dPt>
          <c:dPt>
            <c:idx val="2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9D-436E-BB00-D44EAB751D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9D-436E-BB00-D44EAB751D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9D-436E-BB00-D44EAB751DD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9D-436E-BB00-D44EAB751D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Trauma</c:v>
                </c:pt>
                <c:pt idx="1">
                  <c:v>Emergency</c:v>
                </c:pt>
                <c:pt idx="2">
                  <c:v>Urgent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47.88</c:v>
                </c:pt>
                <c:pt idx="1">
                  <c:v>36.83</c:v>
                </c:pt>
                <c:pt idx="2">
                  <c:v>15.29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9D-436E-BB00-D44EAB751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D3A"/>
                </a:solidFill>
                <a:latin typeface="Arial"/>
              </a:rPr>
              <a:t>Illness Severity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1D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Moderate</c:v>
                </c:pt>
                <c:pt idx="1">
                  <c:v>Minor</c:v>
                </c:pt>
                <c:pt idx="2">
                  <c:v>Extreme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173000</c:v>
                </c:pt>
                <c:pt idx="1">
                  <c:v>84000</c:v>
                </c:pt>
                <c:pt idx="2">
                  <c:v>56000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B3-42D3-91BB-6D01E4EA61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D3A"/>
                </a:solidFill>
                <a:latin typeface="Arial"/>
              </a:rPr>
              <a:t>Patient Distribution by Age Group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 Count</c:v>
                </c:pt>
              </c:strCache>
            </c:strRef>
          </c:tx>
          <c:spPr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0-10</c:v>
                </c:pt>
                <c:pt idx="1">
                  <c:v>11-20</c:v>
                </c:pt>
                <c:pt idx="2">
                  <c:v>21-30</c:v>
                </c:pt>
                <c:pt idx="3">
                  <c:v>31-40</c:v>
                </c:pt>
                <c:pt idx="4">
                  <c:v>41-50</c:v>
                </c:pt>
                <c:pt idx="5">
                  <c:v>51-60</c:v>
                </c:pt>
                <c:pt idx="6">
                  <c:v>61-70</c:v>
                </c:pt>
                <c:pt idx="7">
                  <c:v>71-80</c:v>
                </c:pt>
                <c:pt idx="8">
                  <c:v>81-90</c:v>
                </c:pt>
                <c:pt idx="9">
                  <c:v>91-100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6000</c:v>
                </c:pt>
                <c:pt idx="1">
                  <c:v>17000</c:v>
                </c:pt>
                <c:pt idx="2">
                  <c:v>40000</c:v>
                </c:pt>
                <c:pt idx="3">
                  <c:v>63000</c:v>
                </c:pt>
                <c:pt idx="4">
                  <c:v>63000</c:v>
                </c:pt>
                <c:pt idx="5">
                  <c:v>48000</c:v>
                </c:pt>
                <c:pt idx="6">
                  <c:v>33000</c:v>
                </c:pt>
                <c:pt idx="7">
                  <c:v>35000</c:v>
                </c:pt>
                <c:pt idx="8">
                  <c:v>8000</c:v>
                </c:pt>
                <c:pt idx="9">
                  <c:v>1000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C03-4CBD-83B6-B2DC37030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D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1D3A"/>
                </a:solidFill>
                <a:latin typeface="Arial"/>
              </a:rPr>
              <a:t>Admissions by Ward &amp; Bed Grade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Grade 1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Ward R</c:v>
                </c:pt>
                <c:pt idx="1">
                  <c:v>Ward Q</c:v>
                </c:pt>
                <c:pt idx="2">
                  <c:v>Ward S</c:v>
                </c:pt>
                <c:pt idx="3">
                  <c:v>Ward 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9000</c:v>
                </c:pt>
                <c:pt idx="1">
                  <c:v>9000</c:v>
                </c:pt>
                <c:pt idx="2">
                  <c:v>7000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96-45CA-B5B8-7CE59256A5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Grade 2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Ward R</c:v>
                </c:pt>
                <c:pt idx="1">
                  <c:v>Ward Q</c:v>
                </c:pt>
                <c:pt idx="2">
                  <c:v>Ward S</c:v>
                </c:pt>
                <c:pt idx="3">
                  <c:v>Ward 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49000</c:v>
                </c:pt>
                <c:pt idx="1">
                  <c:v>40000</c:v>
                </c:pt>
                <c:pt idx="2">
                  <c:v>31000</c:v>
                </c:pt>
                <c:pt idx="3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96-45CA-B5B8-7CE59256A5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Grade 3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Ward R</c:v>
                </c:pt>
                <c:pt idx="1">
                  <c:v>Ward Q</c:v>
                </c:pt>
                <c:pt idx="2">
                  <c:v>Ward S</c:v>
                </c:pt>
                <c:pt idx="3">
                  <c:v>Ward P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45000</c:v>
                </c:pt>
                <c:pt idx="1">
                  <c:v>36000</c:v>
                </c:pt>
                <c:pt idx="2">
                  <c:v>26000</c:v>
                </c:pt>
                <c:pt idx="3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96-45CA-B5B8-7CE59256A50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Grade 4</c:v>
                </c:pt>
              </c:strCache>
            </c:strRef>
          </c:tx>
          <c:spPr>
            <a:solidFill>
              <a:srgbClr val="0B1D3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Ward R</c:v>
                </c:pt>
                <c:pt idx="1">
                  <c:v>Ward Q</c:v>
                </c:pt>
                <c:pt idx="2">
                  <c:v>Ward S</c:v>
                </c:pt>
                <c:pt idx="3">
                  <c:v>Ward P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23000</c:v>
                </c:pt>
                <c:pt idx="1">
                  <c:v>19000</c:v>
                </c:pt>
                <c:pt idx="2">
                  <c:v>13000</c:v>
                </c:pt>
                <c:pt idx="3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696-45CA-B5B8-7CE59256A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65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Length of Stay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Operations Analysis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8A9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Visualization — Course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Metwalie   |   Bassem Salah   |   Hossam Elnagar   |   Hazem Shokr   |   Hazem Mohamed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64008" cy="320040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Hospital Length of Stay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patient stays lead to: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misallocation across wards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shortages during peak demand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admissions and longer wait times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operational costs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patient experience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64008" cy="32004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pipeline: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hospital management DB (22 tables)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SQL analytics for operational KPIs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on 318K admission records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workflow in Orange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Power BI dashboard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LOS — Data Mining &amp;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design to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132E5B"/>
          </a:solidFill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Design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83080" y="1965960"/>
            <a:ext cx="32004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468880" y="1463040"/>
            <a:ext cx="1005840" cy="1005840"/>
          </a:xfrm>
          <a:prstGeom prst="ellipse">
            <a:avLst/>
          </a:prstGeom>
          <a:solidFill>
            <a:srgbClr val="132E5B"/>
          </a:solidFill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Impl.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4884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Procs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Views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520440" y="1965960"/>
            <a:ext cx="32004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206240" y="1463040"/>
            <a:ext cx="1005840" cy="1005840"/>
          </a:xfrm>
          <a:prstGeom prst="ellipse">
            <a:avLst/>
          </a:prstGeom>
          <a:solidFill>
            <a:srgbClr val="132E5B"/>
          </a:solidFill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6916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88620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318K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257800" y="1965960"/>
            <a:ext cx="32004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943600" y="1463040"/>
            <a:ext cx="1005840" cy="1005840"/>
          </a:xfrm>
          <a:prstGeom prst="ellipse">
            <a:avLst/>
          </a:prstGeom>
          <a:solidFill>
            <a:srgbClr val="132E5B"/>
          </a:solidFill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6916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Orange DM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2356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995160" y="1965960"/>
            <a:ext cx="320040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80960" y="1463040"/>
            <a:ext cx="1005840" cy="1005840"/>
          </a:xfrm>
          <a:prstGeom prst="ellipse">
            <a:avLst/>
          </a:prstGeom>
          <a:solidFill>
            <a:srgbClr val="132E5B"/>
          </a:solidFill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69164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360920" y="2926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Visuals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41148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214884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+ Khaled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388620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+ Bassem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62356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S.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360920" y="3886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M.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LOS — Data Mining &amp;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 — ER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Hossam Elnagar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6596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Mgmt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NID, Soft-delete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6596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1554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Ops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Appts, Records, Rx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1965960" cy="54864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554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Staff, ISA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37160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1371600"/>
            <a:ext cx="1965960" cy="54864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554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Pharma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Inventory, Expiry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31620" y="30632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31620" y="3063240"/>
            <a:ext cx="1965960" cy="54864"/>
          </a:xfrm>
          <a:prstGeom prst="rect">
            <a:avLst/>
          </a:prstGeom>
          <a:solidFill>
            <a:srgbClr val="26A6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2306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23060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Assignments, Cleaning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89020" y="30632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89020" y="3063240"/>
            <a:ext cx="1965960" cy="54864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8046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80460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Payments, Insurance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46420" y="306324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46420" y="3063240"/>
            <a:ext cx="1965960" cy="54864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3786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37860" y="36118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Ambulance, Blood Bank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178808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Tables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57984" y="4178808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FK Relations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67328" y="4178808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76672" y="4178808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Unique Constraints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86016" y="4178808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Check Constraints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Database Analysis &amp; Design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Hossam Elnagar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4008" cy="31089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Stored Procedures &amp; Triggers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sp_RegisterPatient — duplicate NID check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sp_BookAppointment — validates active doctor/patient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sp_CreateMedicalRecord — links to appointment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sp_GenerateBill — auto invoice number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sp_ProcessPayment — cumulative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sp_CancelAppointment — prevents completed cancel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64008" cy="310896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Security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roles — principle of least privilege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103120"/>
          <a:ext cx="352044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records, Rx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Patients, Rooms, Blood 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Patients,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Billing, Invoices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records (read-only)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74920" y="4069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 prevents privilege escalation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Database Analysis &amp; Design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Analytical Views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Khaled Metwalie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3504" y="10972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vw_PatientRegistry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+ computed 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9744" y="10972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9744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051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vw_DailyDoctorSchedule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280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appointments per doctor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161848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" y="1664208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1618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vw_NoShowAnalysis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by department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618488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9744" y="1664208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9744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618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vw_PatientVisitSummary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history per patient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185416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" y="2231136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185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vw_FrequentVisitors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24140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5+ visits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185416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9744" y="2231136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9744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2185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vw_TopMedications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4140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prescribed drugs (window fn)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2752344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" y="2798064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27523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vw_LabResultsRate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2980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documentation completeness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752344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9744" y="2798064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9744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27523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vw_InvoiceAging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980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invoice aging buckets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3319272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3504" y="3364992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3504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51560" y="3319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vw_MonthlyRevenue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" y="3547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by month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3319272"/>
            <a:ext cx="3931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9744" y="3364992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09744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57800" y="3319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vw_DoctorPerformance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3547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KPIs and workload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39959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21 performance indexes including composite &amp; covering indexes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SQL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(LOS) Prediction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2024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318,438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1920240" cy="457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1920240" cy="4572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1280160"/>
            <a:ext cx="1920240" cy="45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163436"/>
              </p:ext>
            </p:extLst>
          </p:nvPr>
        </p:nvGraphicFramePr>
        <p:xfrm>
          <a:off x="548640" y="2606040"/>
          <a:ext cx="8046720" cy="20360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admission ID (primary key)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code (32 hospitals)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dept (5 categories)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classification (R, Q, S, P, T, 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Patient_Visitors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visitors (0-32)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Admission_Deposit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amount ($1,800-$11,008)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Stay_Days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Length of stay range (11 classes)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Data Analyst Report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&amp;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Speakers: Bassem Salah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301752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18 columns affected: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City_Code_Patient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4,532 missing (1.42%)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= Drop Rows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Bed_Grade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missing (0.04%)</a:t>
            </a:r>
            <a:endParaRPr lang="en-US" sz="1200" dirty="0"/>
          </a:p>
          <a:p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= Drop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54864" cy="30175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exact duplicates found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318,438 rows (0.001%)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 is perfectly unique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(318,438 distinct values)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has 92,017 unique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admissions per patient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6857" y="12801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54864" cy="30175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Validity &amp; Labels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impossible values found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ranges are plausible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Found: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'Nov-20' artifact in Age &amp;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Stay_Days columns — Excel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auto-formatted '11-20' as date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via string replacement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Data Quality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Key Distributions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Speakers:Bassem</a:t>
            </a: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Salah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18872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46320" y="1188720"/>
            <a:ext cx="54864" cy="128016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74920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74920" y="15544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21-30 days is the largest class (27.5%)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61-70 days is the smallest (0.9%)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31.9:1 — requires stratified sampling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6517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2651760"/>
            <a:ext cx="54864" cy="128016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7492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Skew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74920" y="30175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Gynecology dominates at 78.3%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extremely rare at 0.4%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type: Trauma 47.8%, Emergency 37%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Exploratory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Key Relationships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Speakers: Khaled Metwalie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Visitors is the #1 predictor of stay length (Phik = 0.422). Mean visitors rises from 2.6 for short stays to 7.9 for 100+ day stays.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4632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Phik Correlations with Stay_Days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154680"/>
          <a:ext cx="384048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Patient_Visitors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Admission_Deposit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Avail_Extra_Rooms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Illness_Severity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Exploratory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— Outliers &amp; Category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Speakers: Khaled Metwalie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2926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200400" y="1188720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217920" y="1188720"/>
            <a:ext cx="54864" cy="25603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00800" y="1261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Detection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0" y="16002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City_Code_Patient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7.78% outliers — capped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Admission_Deposit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3.87% — kept original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Patient_Visitors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3.08% — kept original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IQR (1st-99th pctl)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31520" y="40416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Moderate illness with Trauma admission is the most common combination (27.2% of all admissions)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Exploratory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Orange Data Mining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Hazem Shokr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88720" cy="82296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Load)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783080"/>
            <a:ext cx="13716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188720" cy="822960"/>
          </a:xfrm>
          <a:prstGeom prst="rect">
            <a:avLst/>
          </a:prstGeom>
          <a:solidFill>
            <a:srgbClr val="00BFA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1783080"/>
            <a:ext cx="13716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1188720" cy="822960"/>
          </a:xfrm>
          <a:prstGeom prst="rect">
            <a:avLst/>
          </a:prstGeom>
          <a:solidFill>
            <a:srgbClr val="7E57C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13716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188720" cy="822960"/>
          </a:xfrm>
          <a:prstGeom prst="rect">
            <a:avLst/>
          </a:prstGeom>
          <a:solidFill>
            <a:srgbClr val="FF98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1783080"/>
            <a:ext cx="13716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1188720" cy="822960"/>
          </a:xfrm>
          <a:prstGeom prst="rect">
            <a:avLst/>
          </a:prstGeom>
          <a:solidFill>
            <a:srgbClr val="EF53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Analyze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783080"/>
            <a:ext cx="137160" cy="0"/>
          </a:xfrm>
          <a:prstGeom prst="line">
            <a:avLst/>
          </a:prstGeom>
          <a:noFill/>
          <a:ln w="25400">
            <a:solidFill>
              <a:srgbClr val="8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1188720" cy="822960"/>
          </a:xfrm>
          <a:prstGeom prst="rect">
            <a:avLst/>
          </a:prstGeom>
          <a:solidFill>
            <a:srgbClr val="26A69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371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Output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5146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" y="26974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862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Hospital_Cleaned.csv loaded via File widget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5146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56432" y="26974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56432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8620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2862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all 318K records and 18 features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5146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91072" y="26974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1072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Statistics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2862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stats, types, distributions per feature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4290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" y="36118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5156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1560" y="3776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distribution analysis for each column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34290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56432" y="36118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56432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88620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&amp; Box Plots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886200" y="3776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patterns, outliers, relationships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429000"/>
            <a:ext cx="26517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91072" y="3611880"/>
            <a:ext cx="384048" cy="384048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91072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2084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Correlations + Heat Map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20840" y="3776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 via selected columns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Orange Data Mining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— Hospital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Hazem Mohamed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86868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314K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188720"/>
            <a:ext cx="1554480" cy="86868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48840" y="1188720"/>
            <a:ext cx="155448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188720"/>
            <a:ext cx="1554480" cy="86868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1188720"/>
            <a:ext cx="1554480" cy="86868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32120" y="1188720"/>
            <a:ext cx="1554480" cy="54864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3212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1188720"/>
            <a:ext cx="1554480" cy="86868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23760" y="1188720"/>
            <a:ext cx="1554480" cy="54864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12618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$4,882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Deposit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2359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Admissions by Type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leads at 47.88%, followed by Emergency 36.83%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4114800" cy="91440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54864" cy="9144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2359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Ward &amp; Bed Grade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697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R dominates (49K cases), Grade 2 most common bed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383280"/>
            <a:ext cx="4114800" cy="91440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Cases by Length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21-30 days (86K), long tail after 50 days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383280"/>
            <a:ext cx="4114800" cy="914400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54864" cy="9144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Distribution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admissions in 41-60 age range (63K each bracket)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Dashboard &amp;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Deep Dive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Speaker: Hazem Mohamed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8872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18872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31520" y="41788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41-50 and 51-60 age groups each represent 63K admissions — the peak hospital demand segment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Dashboard &amp;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65836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115568"/>
            <a:ext cx="438912" cy="438912"/>
          </a:xfrm>
          <a:prstGeom prst="ellipse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051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Visitors Predict Stay Length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Patient_Visitors (Phik=0.422) is the strongest predictor. Mean visitors triples from short to long stays.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54864" cy="658368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1865376"/>
            <a:ext cx="438912" cy="438912"/>
          </a:xfrm>
          <a:prstGeom prst="ellipse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865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1801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Severe Class Imbalance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0756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31.9:1 ratio between largest and smallest stay classes. Stratified sampling and class weights essential.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505456"/>
            <a:ext cx="54864" cy="658368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438912" cy="438912"/>
          </a:xfrm>
          <a:prstGeom prst="ellipse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15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25511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Gynecology Dominates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28254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 of admissions are gynecology. Department alone has limited predictive power (Phik=0.070).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55264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255264"/>
            <a:ext cx="54864" cy="65836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364992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364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33009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Dataset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35753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1.46% missing values across 2 columns. 3 duplicates in 318K rows. No impossible values.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005072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4005072"/>
            <a:ext cx="54864" cy="658368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4114800"/>
            <a:ext cx="438912" cy="438912"/>
          </a:xfrm>
          <a:prstGeom prst="ellipse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114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7320" y="4050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Linear Correlations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43251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Pearson r=0.269. Non-linear models (tree-based) recommended for prediction.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LOS — Key Insights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Summary — Problems &amp; Next Steps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77240"/>
          <a:ext cx="8046720" cy="18653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/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class imbalance (31.9:1)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class_weight='balanced', stratified K-fold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'Nov-20' date artifacts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replacement before ordinal encoding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categories (Surgery 0.4%)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into 'Other' or merge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linear correlations (r=0.269)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models (XGBoost, LightGBM)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City_Code_Patient 7.78%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 capping + median imputation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Next Steps</a:t>
            </a:r>
            <a:endParaRPr lang="en-US" sz="16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804672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terms (Visitors x Severity), polynomial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encode Age/Stay_Days, one-hot encode Department/Ward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XGBoost/LightGBM with class_weight='balanced', 5-fold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F1-score, per-class recall, confusion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EDA Final Summary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06424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515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 Database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344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tables, 3NF normalized, 6 stored procedures, RBAC security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55648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562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801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Analytics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09397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views covering patient, financial, and operational KPIs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505456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060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5511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EDA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28437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20-question analysis on 318K records, identifying key predictors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255264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355848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0098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Orange Workflow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71600" y="35935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data mining pipeline for exploration and validation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4005072"/>
            <a:ext cx="8046720" cy="658368"/>
          </a:xfrm>
          <a:prstGeom prst="rect">
            <a:avLst/>
          </a:prstGeom>
          <a:solidFill>
            <a:srgbClr val="132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105656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050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371600" y="4343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filterable hospital operations overview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LOS — Data Mining &amp;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SESSION_CONTEXT predicates to filter patient data per user login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54864" cy="96012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Tables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System-versioned tables for automatic point-in-time 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313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Modeling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XGBoost/LightGBM using Phik-ranked features with stratified CV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54864" cy="9601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313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624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input/output via FOR JSON and OPENJSON for web/mobile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54864" cy="960120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Encryption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767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Encrypted for PHI columns; TDE for data-at-rest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54864" cy="960120"/>
          </a:xfrm>
          <a:prstGeom prst="rect">
            <a:avLst/>
          </a:prstGeom>
          <a:solidFill>
            <a:srgbClr val="26A6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767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refresh with streaming from hospital systems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3D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LOS — Future Roadmap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8A9B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Metwalie  •  Bassem Salah  •  Hossam Elnagar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Hazem Shokr  •  Hazem Mohamed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Visualization —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361205AC64394FAAD231F29D4AB29B" ma:contentTypeVersion="11" ma:contentTypeDescription="Create a new document." ma:contentTypeScope="" ma:versionID="4f9541d49b91ce5e6cc82b2acc6bd88d">
  <xsd:schema xmlns:xsd="http://www.w3.org/2001/XMLSchema" xmlns:xs="http://www.w3.org/2001/XMLSchema" xmlns:p="http://schemas.microsoft.com/office/2006/metadata/properties" xmlns:ns2="b14dfdcd-93d9-406c-89b6-2a5d93c79378" xmlns:ns3="470b9ac9-9331-4bda-ab27-ce041e5ceddd" targetNamespace="http://schemas.microsoft.com/office/2006/metadata/properties" ma:root="true" ma:fieldsID="e45277f02f16a991bf93bad8ac82decd" ns2:_="" ns3:_="">
    <xsd:import namespace="b14dfdcd-93d9-406c-89b6-2a5d93c79378"/>
    <xsd:import namespace="470b9ac9-9331-4bda-ab27-ce041e5ced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4dfdcd-93d9-406c-89b6-2a5d93c793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c69e0a-9f1e-4b1c-abc7-e9132a2417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b9ac9-9331-4bda-ab27-ce041e5cedd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4509ad-3b9b-409a-ad46-97b4cfa169fc}" ma:internalName="TaxCatchAll" ma:showField="CatchAllData" ma:web="470b9ac9-9331-4bda-ab27-ce041e5ced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70b9ac9-9331-4bda-ab27-ce041e5ceddd" xsi:nil="true"/>
    <lcf76f155ced4ddcb4097134ff3c332f xmlns="b14dfdcd-93d9-406c-89b6-2a5d93c7937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29E8069-7A48-4212-AFD8-286F4119CA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4dfdcd-93d9-406c-89b6-2a5d93c79378"/>
    <ds:schemaRef ds:uri="470b9ac9-9331-4bda-ab27-ce041e5ced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2004FB-5E7A-4E0E-B726-4A2BFDDBEA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144FE1-CC2C-479E-ABB2-E69E997CF4F8}">
  <ds:schemaRefs>
    <ds:schemaRef ds:uri="http://schemas.microsoft.com/office/2006/metadata/properties"/>
    <ds:schemaRef ds:uri="http://schemas.microsoft.com/office/infopath/2007/PartnerControls"/>
    <ds:schemaRef ds:uri="470b9ac9-9331-4bda-ab27-ce041e5ceddd"/>
    <ds:schemaRef ds:uri="b14dfdcd-93d9-406c-89b6-2a5d93c7937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1579</Words>
  <Application>Microsoft Office PowerPoint</Application>
  <PresentationFormat>On-screen Show (16:9)</PresentationFormat>
  <Paragraphs>408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Length of Stay — Data Mining &amp; Visualization</dc:title>
  <dc:subject>PptxGenJS Presentation</dc:subject>
  <dc:creator>Hospital LOS Project Team</dc:creator>
  <cp:lastModifiedBy>Metwalie, khaled 01204533</cp:lastModifiedBy>
  <cp:revision>8</cp:revision>
  <dcterms:created xsi:type="dcterms:W3CDTF">2026-03-16T12:01:46Z</dcterms:created>
  <dcterms:modified xsi:type="dcterms:W3CDTF">2026-03-27T17:52:33Z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0x0101008D361205AC64394FAAD231F29D4AB29B</vt:lpwstr>
  </property>
  <property fmtid="{D5CDD505-2E9C-101B-9397-08002B2CF9AE}" pid="3" name="MediaServiceImageTags">
    <vt:lpwstr/>
  </property>
</Properties>
</file>